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4416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Notebook evidence from phase1_validation.ipynb and gemini_integration_test.ipynb in kkveena/GenAIBI main branch.
- GitHub URLs: https://github.com/kkveena/GenAIBI/blob/main/notebooks/phase1_validation.ipynb and https://github.com/kkveena/GenAIBI/blob/main/notebooks/gemini_integration_test.ipynb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phase1_validation.ipynb notebook summary and outputs.
- gemini_integration_test.ipynb notebook summary and outputs.
- GitHub URLs: https://github.com/kkveena/GenAIBI/blob/main/notebooks/phase1_validation.ipynb ; https://github.com/kkveena/GenAIBI/blob/main/notebooks/gemini_integration_test.ipynb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Architecture and field examples derived from phase1_validation.ipynb and gemini_integration_test.ipynb.
- GitHub URLs: https://github.com/kkveena/GenAIBI/blob/main/notebooks/phase1_validation.ipynb ; https://github.com/kkveena/GenAIBI/blob/main/notebooks/gemini_integration_test.ipynb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Raw and canonical field names from phase1_validation.ipynb staged data validation cells.
- GitHub URL: https://github.com/kkveena/GenAIBI/blob/main/notebooks/phase1_validation.ipynb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Status distribution, cumulative exposure, and validation facts derived from phase1_validation.ipynb outputs.
- GitHub URL: https://github.com/kkveena/GenAIBI/blob/main/notebooks/phase1_validation.ipynb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Metric and dimension registry facts from phase1_validation.ipynb semantic registry validation and API explain-metric outputs.
- GitHub URL: https://github.com/kkveena/GenAIBI/blob/main/notebooks/phase1_validation.ipynb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KPI values and manual verification comments from phase1_validation.ipynb deterministic metric query section.
- GitHub URL: https://github.com/kkveena/GenAIBI/blob/main/notebooks/phase1_validation.ipynb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Endpoint list, request/response structure, lineage, and error handling from phase1_validation.ipynb FastAPI integration tests.
- GitHub URL: https://github.com/kkveena/GenAIBI/blob/main/notebooks/phase1_validation.ipynb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Gemini narration output from gemini_integration_test.ipynb narration section.
- GitHub URL: https://github.com/kkveena/GenAIBI/blob/main/notebooks/gemini_integration_test.ipynb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Natural-language translation examples from gemini_integration_test.ipynb translation section.
- GitHub URL: https://github.com/kkveena/GenAIBI/blob/main/notebooks/gemini_integration_test.ipynb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End-to-end /nl-query execution output from gemini_integration_test.ipynb.
- GitHub URL: https://github.com/kkveena/GenAIBI/blob/main/notebooks/gemini_integration_test.ipynb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Summary synthesized from phase1_validation.ipynb and gemini_integration_test.ipynb outputs and notebook pass/fail summaries.
- GitHub URLs: https://github.com/kkveena/GenAIBI/blob/main/notebooks/phase1_validation.ipynb ; https://github.com/kkveena/GenAIBI/blob/main/notebooks/gemini_integration_test.ipynb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GenAI for BI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452360" y="6473952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teaser | Phase 1 validation + Gemini integration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841480" y="6419088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19088"/>
            <a:ext cx="1645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19088"/>
            <a:ext cx="1645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1005840"/>
            <a:ext cx="10972800" cy="493776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68680" y="13258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Semantic GenAI for BI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8680" y="18288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</a:rPr>
              <a:t>Teaser deck from notebook evidence: how the semantic layer converts raw fields into governed metrics, and how Gemini produces grounded answers from deterministic data.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68680" y="2926080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3054096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Raw records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33272" y="3310128"/>
            <a:ext cx="14538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33272" y="3803904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JSON sample loaded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88920" y="29260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53512" y="30540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Canonical fields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53512" y="3310128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953512" y="3803904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Staged contract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56048" y="2926080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20640" y="30540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Governed metrics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20640" y="3310128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120640" y="3803904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Registry validated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68680" y="4315968"/>
            <a:ext cx="2011680" cy="1188720"/>
          </a:xfrm>
          <a:prstGeom prst="roundRect">
            <a:avLst>
              <a:gd name="adj" fmla="val 6154"/>
            </a:avLst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033272" y="444398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Notebook checks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33272" y="4700016"/>
            <a:ext cx="1682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29/29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33272" y="519379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20 phase-1 + 9 Gemini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63240" y="4315968"/>
            <a:ext cx="2514600" cy="1188720"/>
          </a:xfrm>
          <a:prstGeom prst="roundRect">
            <a:avLst>
              <a:gd name="adj" fmla="val 6154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27832" y="4443984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Validated answer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27832" y="4700016"/>
            <a:ext cx="21854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$15.5M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227832" y="5193792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net_margin_exposure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760720" y="4315968"/>
            <a:ext cx="2286000" cy="1188720"/>
          </a:xfrm>
          <a:prstGeom prst="roundRect">
            <a:avLst>
              <a:gd name="adj" fmla="val 6154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25312" y="4443984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LLM role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25312" y="4700016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Translate + narrate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925312" y="5193792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Not raw math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52360" y="1325880"/>
            <a:ext cx="3474720" cy="4297680"/>
          </a:xfrm>
          <a:prstGeom prst="roundRect">
            <a:avLst>
              <a:gd name="adj" fmla="val 210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699248" y="1554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Manager takeaway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662672" y="1920240"/>
            <a:ext cx="2834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The semantic layer eliminates guesswork on field names, formulas, and filters.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The notebooks show deterministic KPIs first, then LLM narration and NL translation on top.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This is the right path for trustworthy BI over operational data.</a:t>
            </a:r>
            <a:endParaRPr lang="en-US" sz="15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19088"/>
            <a:ext cx="1645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two notebooks validated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A compact proof that the architecture already works as a governed vertical slice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"/>
            <a:ext cx="109728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356616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Evidence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1280160"/>
            <a:ext cx="544068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1389888"/>
            <a:ext cx="5148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phase1_validation.ipynb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4846320" cy="3429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Loads 10 raw JSON records through the DuckDB adapter.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Builds a canonical staging contract with 7 fields: call_id, account_id, margin_amount_usd, collateral_amount_usd, net_val, status_name, event_at.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Registers 3 governed metrics and 3 governed dimensions.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Validates deterministic queries, FastAPI endpoints, lineage, and fail-closed behavior.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Ends with 20/20 checks passed.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512064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33272" y="5248656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Core result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3272" y="5504688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$15.5M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33272" y="5312664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834640" y="512064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99232" y="5248656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Breaches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99232" y="5504688"/>
            <a:ext cx="1225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999232" y="5312664"/>
            <a:ext cx="1225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26280" y="5120640"/>
            <a:ext cx="1051560" cy="502920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90872" y="5248656"/>
            <a:ext cx="722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Calls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90872" y="5504688"/>
            <a:ext cx="722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690872" y="5312664"/>
            <a:ext cx="722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91072" y="1280160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37376" y="1389888"/>
            <a:ext cx="4965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gemini_integration_test.ipynb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2240" y="1691640"/>
            <a:ext cx="4709160" cy="3429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Tests Gemini client connectivity and grounded narration.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Translates natural-language questions into governed metric requests.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Exercises the /nl-query API end to end: question → translation → execution → answer.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Supports translate-only mode and safe fallback when Gemini is unavailable.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Ends with 9/9 checks passed when the API key is configured.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537960" y="4892040"/>
            <a:ext cx="4572000" cy="658368"/>
          </a:xfrm>
          <a:prstGeom prst="roundRect">
            <a:avLst>
              <a:gd name="adj" fmla="val 694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75120" y="496519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Representative translation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5129784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Q: What is the net margin exposure for January 2025?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metric: net_margin_exposure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grain: month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start_date: 2025-01-01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end_date: 2025-01-31</a:t>
            </a:r>
            <a:endParaRPr lang="en-US" sz="11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19088"/>
            <a:ext cx="1645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semantic layer makes BI answers trustworthy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The LLM is constrained to reasoning over governed business objects instead of inventing SQL over raw fields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356616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Flow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217627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Raw JSON / SQL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51460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id, acct_id, mc_amt, st_cd, event_ts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2011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08376" y="217627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Canonical staging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17520" y="251460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call_id, margin_amount_usd, status_name, event_at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2011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57216" y="217627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Semantic registry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66360" y="251460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metrics, dimensions, default filters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178040" y="2011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06056" y="217627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Deterministic API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0" y="251460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/metrics, /query-metric, /explain-metric, /nl-query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326880" y="20116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454896" y="217627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</a:rPr>
              <a:t>Gemini layer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464040" y="251460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</a:rPr>
              <a:t>translate question and narrate result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87752" y="2514600"/>
            <a:ext cx="219456" cy="347472"/>
          </a:xfrm>
          <a:prstGeom prst="chevron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36592" y="2514600"/>
            <a:ext cx="219456" cy="347472"/>
          </a:xfrm>
          <a:prstGeom prst="chevron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885432" y="2514600"/>
            <a:ext cx="219456" cy="347472"/>
          </a:xfrm>
          <a:prstGeom prst="chevron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34272" y="2514600"/>
            <a:ext cx="219456" cy="347472"/>
          </a:xfrm>
          <a:prstGeom prst="chevron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68680" y="3977640"/>
            <a:ext cx="1097280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97280" y="4187952"/>
            <a:ext cx="49987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What changes with the semantic layer?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51560" y="4553712"/>
            <a:ext cx="1001268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The model no longer has to infer that mc_amt means margin amount or that st_cd=4 means CONFIRMED.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Filters, formulas, grain, and metric names are governed once and reused everywhere.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Natural language becomes a safe front end to deterministic computation, rather than a source of hallucinated logic.</a:t>
            </a:r>
            <a:endParaRPr lang="en-US" sz="14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19088"/>
            <a:ext cx="1645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raw fields to a canonical contract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The notebook proves that we can replace opaque source names with human-readable business terms before the LLM ever sees the data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356616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Contract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13232" y="1298448"/>
            <a:ext cx="3474720" cy="4526280"/>
          </a:xfrm>
          <a:prstGeom prst="roundRect">
            <a:avLst>
              <a:gd name="adj" fmla="val 1579"/>
            </a:avLst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1408176"/>
            <a:ext cx="3182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Raw source fields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1828800"/>
            <a:ext cx="24963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acct_id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mc_amt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collateral_val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st_cd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event_ts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9264" y="502920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</a:rPr>
              <a:t>Exactly as the notebook loaded them from margin_transactions.json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07408" y="3108960"/>
            <a:ext cx="384048" cy="347472"/>
          </a:xfrm>
          <a:prstGeom prst="chevron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83480" y="1298448"/>
            <a:ext cx="3794760" cy="452628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29784" y="1408176"/>
            <a:ext cx="3502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Canonical staged fields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30368" y="1700784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Source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56832" y="170078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</a:rPr>
              <a:t>Canonical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175504" y="1920240"/>
            <a:ext cx="3401568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321808" y="202996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201168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20840" y="2029968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call_id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75504" y="2404872"/>
            <a:ext cx="340156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21808" y="2514600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acct_id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249631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0840" y="251460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account_id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175504" y="2889504"/>
            <a:ext cx="3401568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321808" y="2999232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mc_amt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0" y="298094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20840" y="2999232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margin_amount_usd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175504" y="3374136"/>
            <a:ext cx="340156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21808" y="3483864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collateral_val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465576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20840" y="3483864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collateral_amount_usd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75504" y="3858768"/>
            <a:ext cx="3401568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321808" y="3968496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mc_amt - collateral_val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950208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20840" y="3968496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net_val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75504" y="4343400"/>
            <a:ext cx="340156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21808" y="4453128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st_cd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4434840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20840" y="4453128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status_name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75504" y="4828032"/>
            <a:ext cx="3401568" cy="438912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321808" y="4937760"/>
            <a:ext cx="1170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event_ts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0" y="4919472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720840" y="4937760"/>
            <a:ext cx="1600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event_at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9052560" y="1298448"/>
            <a:ext cx="2359152" cy="4526280"/>
          </a:xfrm>
          <a:prstGeom prst="roundRect">
            <a:avLst>
              <a:gd name="adj" fmla="val 2326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198864" y="1408176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Business meaning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9272016" y="1773936"/>
            <a:ext cx="1901952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4 → CONFIRMED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5 → PENDING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0 → CANCELLED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net_val = margin_amount_usd − collateral_amount_usd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event_at standardized for time grain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9281160" y="4809744"/>
            <a:ext cx="1783080" cy="502920"/>
          </a:xfrm>
          <a:prstGeom prst="roundRect">
            <a:avLst>
              <a:gd name="adj" fmla="val 9091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400032" y="4983480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</a:rPr>
              <a:t>LLM sees these names</a:t>
            </a:r>
            <a:endParaRPr lang="en-US" sz="11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19088"/>
            <a:ext cx="1645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evidence from the staged dataset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The semantic layer starts with data discipline: record count, status mapping, net value computation, and unique identifiers all pass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356616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Validation</a:t>
            </a:r>
            <a:endParaRPr lang="en-US" sz="1000" dirty="0"/>
          </a:p>
        </p:txBody>
      </p:sp>
      <p:pic>
        <p:nvPicPr>
          <p:cNvPr id="6" name="Image 0" descr="/mnt/data/genaibi_teaser_assets/status_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346028"/>
            <a:ext cx="4709160" cy="2474304"/>
          </a:xfrm>
          <a:prstGeom prst="rect">
            <a:avLst/>
          </a:prstGeom>
        </p:spPr>
      </p:pic>
      <p:pic>
        <p:nvPicPr>
          <p:cNvPr id="7" name="Image 1" descr="/mnt/data/genaibi_teaser_assets/cumulative_expos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7213" y="1325880"/>
            <a:ext cx="4776839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49808" y="4133088"/>
            <a:ext cx="10972800" cy="1353312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896112" y="4242816"/>
            <a:ext cx="10680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Notebook assertions that passed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960120" y="4517136"/>
            <a:ext cx="28346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10 raw records loaded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7 canonical fields present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Status mapping 4/5/0 validated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26280" y="4517136"/>
            <a:ext cx="28346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net_val formula validated on every row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call_id uniqueness validated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Daily grain returned 6 confirmed days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028432" y="4517136"/>
            <a:ext cx="28346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Filter by PENDING returned 2 calls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Date range Jan 1–15 returned 5 calls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</a:rPr>
              <a:t>All 20 phase-1 validation checks passed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19088"/>
            <a:ext cx="1645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governed semantic registry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Metrics and dimensions are centrally defined before any question reaches the LLM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356616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Registry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298448"/>
            <a:ext cx="658368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408176"/>
            <a:ext cx="6291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Governed metrics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1664208"/>
            <a:ext cx="1828800" cy="1508760"/>
          </a:xfrm>
          <a:prstGeom prst="roundRect">
            <a:avLst>
              <a:gd name="adj" fmla="val 4848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24712" y="1792224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net_margin_exposure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24712" y="2048256"/>
            <a:ext cx="14996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$15.5M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24712" y="2862072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sum(net_val), default status_name=CONFIRMED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971800" y="1664208"/>
            <a:ext cx="1645920" cy="1508760"/>
          </a:xfrm>
          <a:prstGeom prst="roundRect">
            <a:avLst>
              <a:gd name="adj" fmla="val 4848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136392" y="1792224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high_risk_breaches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36392" y="2048256"/>
            <a:ext cx="13167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136392" y="2862072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count_distinct(call_id), confirmed only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1664208"/>
            <a:ext cx="1965960" cy="1508760"/>
          </a:xfrm>
          <a:prstGeom prst="roundRect">
            <a:avLst>
              <a:gd name="adj" fmla="val 4848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65192" y="1792224"/>
            <a:ext cx="1636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total_margin_calls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65192" y="2048256"/>
            <a:ext cx="16367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65192" y="2862072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count_distinct(call_id), all statuses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0120" y="3456432"/>
            <a:ext cx="5989320" cy="1691640"/>
          </a:xfrm>
          <a:prstGeom prst="roundRect">
            <a:avLst>
              <a:gd name="adj" fmla="val 2703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97280" y="3529584"/>
            <a:ext cx="5715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Representative explain-metric response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97280" y="3694176"/>
            <a:ext cx="5715000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Metric: net_margin_exposure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sum(net_val)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 filter: status_name=CONFIRMED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model: stg_margin_calls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43800" y="1298448"/>
            <a:ext cx="384048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90104" y="1408176"/>
            <a:ext cx="3547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Governed dimensions + guardrails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90688" y="1755648"/>
            <a:ext cx="324612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event_at (time)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status_name (categorical)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account_id (categorical)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Unknown metrics are rejected.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Unknown filter dimensions are rejected.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772400" y="4297680"/>
            <a:ext cx="3246120" cy="1005840"/>
          </a:xfrm>
          <a:prstGeom prst="roundRect">
            <a:avLst>
              <a:gd name="adj" fmla="val 545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73568" y="449884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Fail-closed behavior matters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973568" y="4736592"/>
            <a:ext cx="2697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The notebook explicitly passes on 404/400-style rejection for invented metrics and bogus filters.</a:t>
            </a:r>
            <a:endParaRPr 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19088"/>
            <a:ext cx="1645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Deterministic KPI results come directly from data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This is the key architecture point: the semantic layer computes, and the LLM reports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"/>
            <a:ext cx="82296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356616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Results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41248" y="1371600"/>
            <a:ext cx="3566160" cy="1417320"/>
          </a:xfrm>
          <a:prstGeom prst="roundRect">
            <a:avLst>
              <a:gd name="adj" fmla="val 5161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1499616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KPI 1 — net_margin_exposure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55648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$15,500,000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2478024"/>
            <a:ext cx="32369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6 confirmed calls in Jan 2025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15968" y="137160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80560" y="1499616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KPI 2 — high_risk_breaches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1755648"/>
            <a:ext cx="30540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80560" y="2478024"/>
            <a:ext cx="3054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Confirmed calls above $5M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744968" y="137160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  <a:effectLst>
            <a:outerShdw blurRad="15240" dist="635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09560" y="14996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KPI 3 — total_margin_calls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09560" y="175564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909560" y="247802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All statuses in Jan 2025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68680" y="3154680"/>
            <a:ext cx="5212080" cy="2103120"/>
          </a:xfrm>
          <a:prstGeom prst="roundRect">
            <a:avLst>
              <a:gd name="adj" fmla="val 217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005840" y="3227832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Manual check embedded in the notebook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392424"/>
            <a:ext cx="493776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Confirmed calls used in net exposure: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MC-001: 7.5M - 5.0M = 2.5M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MC-002: 3.2M - 2.8M = 0.4M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MC-003: 12.0M - 8.0M = 4.0M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MC-005: 6.0M - 4.5M = 1.5M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MC-007: 8.2M - 6.1M = 2.1M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MC-009: 15.0M - 10.0M = 5.0M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15.5M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6520" y="3246120"/>
            <a:ext cx="4663440" cy="1874520"/>
          </a:xfrm>
          <a:prstGeom prst="roundRect">
            <a:avLst>
              <a:gd name="adj" fmla="val 2927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75120" y="3502152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Why this matters for managers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629400" y="3822192"/>
            <a:ext cx="40690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The number is reproducible from the data, not just “plausible sounding.”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The formula is explicit and reviewable.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The same metric can power APIs, dashboards, and LLM responses.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19088"/>
            <a:ext cx="1645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layer keeps the answer auditable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The notebook proves that every answer can expose metric, filters, source, staging model, and optional narration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"/>
            <a:ext cx="68580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356616"/>
            <a:ext cx="539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API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2880360" cy="45262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23544" y="1435608"/>
            <a:ext cx="2587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Available governed endpoints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847088"/>
            <a:ext cx="224028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GET /health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GET /metrics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GET /dimensions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POST /query-metric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POST /explain-metric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POST /nl-query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1560" y="4572000"/>
            <a:ext cx="2240280" cy="749808"/>
          </a:xfrm>
          <a:prstGeom prst="roundRect">
            <a:avLst>
              <a:gd name="adj" fmla="val 609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70432" y="4736592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803D"/>
                </a:solidFill>
              </a:rPr>
              <a:t>All 3 metric endpoints and all 3 dimension endpoints passed in the validation notebook.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1463040"/>
            <a:ext cx="3200400" cy="2240280"/>
          </a:xfrm>
          <a:prstGeom prst="roundRect">
            <a:avLst>
              <a:gd name="adj" fmla="val 204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23360" y="15361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Request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023360" y="1700784"/>
            <a:ext cx="292608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/query-metric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"metric"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"net_margin_exposure"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"grain"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"month"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"filters"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"start_date"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"2025-01-01"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"end_date"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"2025-01-31"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1463040"/>
            <a:ext cx="3749040" cy="2240280"/>
          </a:xfrm>
          <a:prstGeom prst="roundRect">
            <a:avLst>
              <a:gd name="adj" fmla="val 2041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06640" y="153619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Response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06640" y="1700784"/>
            <a:ext cx="347472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"rows"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"period"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"2025-01-01"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"value"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15500000.0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"lineage"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"source"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"raw_app_data.margin_transactions"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"staging_model"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"stg_margin_calls"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"metric_name"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"net_margin_exposure"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"narration"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null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14032" y="2468880"/>
            <a:ext cx="4572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86200" y="3977640"/>
            <a:ext cx="71323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032504" y="4087368"/>
            <a:ext cx="6839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Guardrails shown in notebook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096512" y="4315968"/>
            <a:ext cx="649224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Unknown metric returns HTTP 404 with allowed metric list.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Invalid filter dimension returns HTTP 400 with allowed dimension list.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</a:rPr>
              <a:t>Narration can be disabled entirely without affecting the deterministic result.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19088"/>
            <a:ext cx="1645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Gemini adds explanation, not calculation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The LLM value is in translation and narration after the semantic layer has already computed the correct answer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"/>
            <a:ext cx="86868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356616"/>
            <a:ext cx="722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Gemini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68096" y="1335024"/>
            <a:ext cx="5230368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4447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Deterministic result first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87552" y="1783080"/>
            <a:ext cx="4709160" cy="11430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24712" y="1856232"/>
            <a:ext cx="4434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Structured result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" y="2020824"/>
            <a:ext cx="470916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Metric: net_margin_exposure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Grain: month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Filters: status_name=CONFIRMED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Rows: [{"period": "2025-01-01", "value": 15500000.0}]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315468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75569"/>
                </a:solidFill>
              </a:rPr>
              <a:t>This is the controlled payload handed to the narration layer.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87552" y="3566160"/>
            <a:ext cx="4709160" cy="1691640"/>
          </a:xfrm>
          <a:prstGeom prst="roundRect">
            <a:avLst>
              <a:gd name="adj" fmla="val 324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382219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</a:rPr>
              <a:t>Rule of thumb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114800"/>
            <a:ext cx="42062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Semantic layer computes metric names, filters, grain, and rows.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LLM summarizes the answer for humans.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This sharply reduces hallucination risk.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91072" y="1335024"/>
            <a:ext cx="5120640" cy="4480560"/>
          </a:xfrm>
          <a:prstGeom prst="roundRect">
            <a:avLst>
              <a:gd name="adj" fmla="val 1224"/>
            </a:avLst>
          </a:prstGeom>
          <a:solidFill>
            <a:srgbClr val="0F172A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37376" y="1444752"/>
            <a:ext cx="4828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Gemini narration from the notebook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1874520"/>
            <a:ext cx="4526280" cy="1234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</a:rPr>
              <a:t>“The `net_margin_exposure` for January 2025 is 15,500,000.00. This result is based on a monthly grain and filtered by `status_name=CONFIRMED`.”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583680" y="3657600"/>
            <a:ext cx="4480560" cy="1234440"/>
          </a:xfrm>
          <a:prstGeom prst="roundRect">
            <a:avLst>
              <a:gd name="adj" fmla="val 370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48272" y="3913632"/>
            <a:ext cx="393192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Grounded in metric name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Grounded in time grain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Grounded in explicit filter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No free-form math required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19088"/>
            <a:ext cx="1645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Natural language becomes a governed request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The notebook shows Gemini mapping user intent into the metric vocabulary, rather than writing arbitrary SQL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"/>
            <a:ext cx="114300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356616"/>
            <a:ext cx="996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NL translation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325880"/>
            <a:ext cx="10972800" cy="4754880"/>
          </a:xfrm>
          <a:prstGeom prst="roundRect">
            <a:avLst>
              <a:gd name="adj" fmla="val 11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435608"/>
            <a:ext cx="10680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Representative examples from gemini_integration_test.ipynb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User question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17720" y="1645920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Translated request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21040" y="1645920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75569"/>
                </a:solidFill>
              </a:rPr>
              <a:t>What is safe about it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77824" y="1929384"/>
            <a:ext cx="10698480" cy="1078992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039112"/>
            <a:ext cx="3337560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What is the total net margin exposure for January 2025?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17720" y="2039112"/>
            <a:ext cx="3383280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metric=net_margin_exposure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grain=month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start=2025-01-01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end=2025-01-31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321040" y="2039112"/>
            <a:ext cx="2788920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Uses governed metric name and explicit date range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77824" y="3163824"/>
            <a:ext cx="10698480" cy="1078992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273552"/>
            <a:ext cx="3337560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How many margin calls were there in total?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17720" y="3273552"/>
            <a:ext cx="3383280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metric=total_margin_calls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filters={}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no dates extracted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21040" y="3273552"/>
            <a:ext cx="2788920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Maps directly to count metric, not to raw table scan logic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77824" y="4398264"/>
            <a:ext cx="10698480" cy="1078992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507992"/>
            <a:ext cx="3337560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72A"/>
                </a:solidFill>
              </a:rPr>
              <a:t>Show me the total margin calls with status PENDING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617720" y="4507992"/>
            <a:ext cx="3383280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metric=total_margin_calls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F172A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filters={status_name:PENDING}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21040" y="4507992"/>
            <a:ext cx="2788920" cy="9326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Extracts a governed dimension filter rather than inventing a column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19088"/>
            <a:ext cx="1645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proof: question → translation → execution → right answer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The /nl-query notebook test is the clearest teaser for stakeholders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356616"/>
            <a:ext cx="813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End to end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1920240" cy="1828800"/>
          </a:xfrm>
          <a:prstGeom prst="roundRect">
            <a:avLst>
              <a:gd name="adj" fmla="val 3500"/>
            </a:avLst>
          </a:prstGeom>
          <a:solidFill>
            <a:srgbClr val="EFF6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41248" y="1993392"/>
            <a:ext cx="1700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Question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359152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What is the net margin exposure for January 2025?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71800" y="1828800"/>
            <a:ext cx="2011680" cy="1828800"/>
          </a:xfrm>
          <a:prstGeom prst="roundRect">
            <a:avLst>
              <a:gd name="adj" fmla="val 3500"/>
            </a:avLst>
          </a:prstGeom>
          <a:solidFill>
            <a:srgbClr val="F0FDF4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081528" y="199339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Translated request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81528" y="2359152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metric=net_margin_exposure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grain=month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Jan 1–31 2025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94960" y="1828800"/>
            <a:ext cx="2011680" cy="1828800"/>
          </a:xfrm>
          <a:prstGeom prst="roundRect">
            <a:avLst>
              <a:gd name="adj" fmla="val 3500"/>
            </a:avLst>
          </a:prstGeom>
          <a:solidFill>
            <a:srgbClr val="FFFBEB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504688" y="1993392"/>
            <a:ext cx="17922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Execution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04688" y="2359152"/>
            <a:ext cx="1792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/query-metric against staged governed data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18120" y="1828800"/>
            <a:ext cx="1737360" cy="1828800"/>
          </a:xfrm>
          <a:prstGeom prst="roundRect">
            <a:avLst>
              <a:gd name="adj" fmla="val 3684"/>
            </a:avLst>
          </a:prstGeom>
          <a:solidFill>
            <a:srgbClr val="ECFE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27848" y="199339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Result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27848" y="2359152"/>
            <a:ext cx="15179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</a:rPr>
              <a:t>15,500,000.00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829800" y="1828800"/>
            <a:ext cx="160020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939528" y="1993392"/>
            <a:ext cx="1380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Narration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939528" y="2359152"/>
            <a:ext cx="13807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172A"/>
                </a:solidFill>
              </a:rPr>
              <a:t>Grounded business sentence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24912" y="2560320"/>
            <a:ext cx="164592" cy="347472"/>
          </a:xfrm>
          <a:prstGeom prst="chevron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138928" y="2560320"/>
            <a:ext cx="164592" cy="347472"/>
          </a:xfrm>
          <a:prstGeom prst="chevron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571232" y="2560320"/>
            <a:ext cx="164592" cy="347472"/>
          </a:xfrm>
          <a:prstGeom prst="chevron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564624" y="2560320"/>
            <a:ext cx="164592" cy="347472"/>
          </a:xfrm>
          <a:prstGeom prst="chevron">
            <a:avLst/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0120" y="4114800"/>
            <a:ext cx="10241280" cy="1188720"/>
          </a:xfrm>
          <a:prstGeom prst="roundRect">
            <a:avLst>
              <a:gd name="adj" fmla="val 384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97280" y="4187952"/>
            <a:ext cx="9966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3C5FD"/>
                </a:solidFill>
              </a:rPr>
              <a:t>Notebook output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97280" y="4352544"/>
            <a:ext cx="99669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/nl-query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Question: What is the net margin exposure for January 2025?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rows: [{"period":"2025-01-01","value":15500000.0}]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Narration: The net_margin_exposure ... is 15,500,000.00 ...</a:t>
            </a:r>
            <a:endParaRPr lang="en-US" sz="11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19088"/>
            <a:ext cx="1645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teaser proves — and what comes next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</a:rPr>
              <a:t>Recommended message for manager and squad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310896"/>
            <a:ext cx="914400" cy="274320"/>
          </a:xfrm>
          <a:prstGeom prst="roundRect">
            <a:avLst>
              <a:gd name="adj" fmla="val 2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21792" y="356616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</a:rPr>
              <a:t>Takeaway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49808" y="1325880"/>
            <a:ext cx="539496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1435608"/>
            <a:ext cx="5102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is already proven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792224"/>
            <a:ext cx="4800600" cy="2651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The semantic layer pattern works on a realistic vertical slice: source ingestion, canonicalization, metrics, API, and lineage.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The LLM can already produce grounded narration and translate natural language into governed requests.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The strongest proof point is that the answer is right because the semantic layer computed it, not because the model improvised.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55080" y="1325880"/>
            <a:ext cx="4937760" cy="438912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01384" y="1435608"/>
            <a:ext cx="4645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Recommended next build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0" y="1792224"/>
            <a:ext cx="438912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Expand from formal </a:t>
            </a:r>
            <a:r>
              <a:rPr lang="en-US" sz="1500" dirty="0" err="1">
                <a:solidFill>
                  <a:srgbClr val="0F172A"/>
                </a:solidFill>
              </a:rPr>
              <a:t>dbt</a:t>
            </a:r>
            <a:r>
              <a:rPr lang="en-US" sz="1500" dirty="0">
                <a:solidFill>
                  <a:srgbClr val="0F172A"/>
                </a:solidFill>
              </a:rPr>
              <a:t> to Apache Iceberg semantic models / governed APIs.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Add tool calling so the LLM invokes governed query tools instead of generating raw SQL.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Add evals for translation accuracy, metric correctness, filter correctness, and narrative grounding.</a:t>
            </a:r>
            <a:endParaRPr lang="en-US" sz="1500" dirty="0"/>
          </a:p>
          <a:p>
            <a:pPr marL="177800" indent="-1778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Keep the same design principle: deterministic computation first, LLM assistance second.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" y="4846320"/>
            <a:ext cx="10058400" cy="59436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5010912"/>
            <a:ext cx="9555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Manager summary: this is not “LLM guessing over BI.” It is a governed semantic layer with LLMs acting as translators and narrators on top of trusted data.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419088"/>
            <a:ext cx="16459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2633</Words>
  <Application>Microsoft Macintosh PowerPoint</Application>
  <PresentationFormat>Widescreen</PresentationFormat>
  <Paragraphs>284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Aptos Mono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GenAI for BI — Semantic Layer Teaser</dc:title>
  <dc:subject>Semantic GenAI for BI teaser</dc:subject>
  <dc:creator>OpenAI</dc:creator>
  <cp:lastModifiedBy>OMSA Class</cp:lastModifiedBy>
  <cp:revision>4</cp:revision>
  <dcterms:created xsi:type="dcterms:W3CDTF">2026-03-24T04:59:30Z</dcterms:created>
  <dcterms:modified xsi:type="dcterms:W3CDTF">2026-03-24T06:54:40Z</dcterms:modified>
</cp:coreProperties>
</file>